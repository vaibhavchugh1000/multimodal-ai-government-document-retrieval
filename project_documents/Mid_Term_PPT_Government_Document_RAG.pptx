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30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713" y="609676"/>
            <a:ext cx="11542572" cy="9535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14625" y="2507107"/>
            <a:ext cx="697674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209" marR="5080" indent="-39814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Calibri"/>
                <a:cs typeface="Calibri"/>
              </a:rPr>
              <a:t>Final</a:t>
            </a:r>
            <a:r>
              <a:rPr sz="4800" spc="-125" dirty="0">
                <a:latin typeface="Calibri"/>
                <a:cs typeface="Calibri"/>
              </a:rPr>
              <a:t> </a:t>
            </a:r>
            <a:r>
              <a:rPr sz="4800" spc="-55" dirty="0">
                <a:latin typeface="Calibri"/>
                <a:cs typeface="Calibri"/>
              </a:rPr>
              <a:t>Year</a:t>
            </a:r>
            <a:r>
              <a:rPr sz="4800" spc="-125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Project</a:t>
            </a:r>
            <a:r>
              <a:rPr sz="4800" spc="-130" dirty="0">
                <a:latin typeface="Calibri"/>
                <a:cs typeface="Calibri"/>
              </a:rPr>
              <a:t> </a:t>
            </a:r>
            <a:r>
              <a:rPr sz="4800" spc="-10" dirty="0">
                <a:latin typeface="Calibri"/>
                <a:cs typeface="Calibri"/>
              </a:rPr>
              <a:t>(Midterm) </a:t>
            </a:r>
            <a:r>
              <a:rPr sz="4800" spc="-30" dirty="0">
                <a:latin typeface="Calibri"/>
                <a:cs typeface="Calibri"/>
              </a:rPr>
              <a:t>July202</a:t>
            </a:r>
            <a:r>
              <a:rPr lang="en-US" sz="4800" spc="-30" dirty="0">
                <a:latin typeface="Calibri"/>
                <a:cs typeface="Calibri"/>
              </a:rPr>
              <a:t>6</a:t>
            </a:r>
            <a:r>
              <a:rPr sz="4800" spc="-30" dirty="0">
                <a:latin typeface="Calibri"/>
                <a:cs typeface="Calibri"/>
              </a:rPr>
              <a:t>-</a:t>
            </a:r>
            <a:r>
              <a:rPr sz="4800" spc="-10" dirty="0">
                <a:latin typeface="Calibri"/>
                <a:cs typeface="Calibri"/>
              </a:rPr>
              <a:t>December202</a:t>
            </a:r>
            <a:r>
              <a:rPr lang="en-US" sz="4800" spc="-10" dirty="0">
                <a:latin typeface="Calibri"/>
                <a:cs typeface="Calibri"/>
              </a:rPr>
              <a:t>6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900000"/>
            <a:ext cx="10358122" cy="150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b="1" i="0" dirty="0">
                <a:solidFill>
                  <a:srgbClr val="3B2A24"/>
                </a:solidFill>
                <a:latin typeface="Calibri"/>
                <a:cs typeface="Calibri"/>
              </a:rPr>
              <a:t>Multimodal AI Framework for OCR-Based Digitization and Intelligent Retrieval of Government Documents</a:t>
            </a:r>
            <a:endParaRPr sz="2800"/>
          </a:p>
        </p:txBody>
      </p:sp>
      <p:sp>
        <p:nvSpPr>
          <p:cNvPr id="11" name="tb11"/>
          <p:cNvSpPr txBox="1"/>
          <p:nvPr/>
        </p:nvSpPr>
        <p:spPr>
          <a:xfrm>
            <a:off x="6296000" y="2547491"/>
            <a:ext cx="4979061" cy="1164800"/>
          </a:xfrm>
          <a:prstGeom prst="rect">
            <a:avLst/>
          </a:prstGeom>
          <a:solidFill>
            <a:srgbClr val="F4EEE6"/>
          </a:solidFill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8A3324"/>
                </a:solidFill>
                <a:latin typeface="Calibri"/>
                <a:cs typeface="Calibri"/>
              </a:rPr>
              <a:t>Team Member</a:t>
            </a:r>
            <a:r>
              <a:rPr lang="en-US" sz="1500" b="1" dirty="0">
                <a:solidFill>
                  <a:srgbClr val="8A3324"/>
                </a:solidFill>
                <a:latin typeface="Calibri"/>
                <a:cs typeface="Calibri"/>
              </a:rPr>
              <a:t>s</a:t>
            </a:r>
            <a:endParaRPr lang="en-US" sz="1500" b="1" i="0" dirty="0">
              <a:solidFill>
                <a:srgbClr val="8A3324"/>
              </a:solidFill>
              <a:latin typeface="Calibri"/>
              <a:cs typeface="Calibri"/>
            </a:endParaRP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Vaibhav Chugh  (23csu327)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dirty="0">
                <a:solidFill>
                  <a:srgbClr val="2F2A26"/>
                </a:solidFill>
                <a:latin typeface="Calibri"/>
                <a:cs typeface="Calibri"/>
              </a:rPr>
              <a:t>S</a:t>
            </a: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rivatsan Raghavan (</a:t>
            </a:r>
            <a:r>
              <a:rPr lang="en-US" sz="1600" dirty="0">
                <a:solidFill>
                  <a:srgbClr val="2F2A26"/>
                </a:solidFill>
                <a:latin typeface="Calibri"/>
                <a:cs typeface="Calibri"/>
              </a:rPr>
              <a:t>23csu302</a:t>
            </a: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)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899733" y="2547491"/>
            <a:ext cx="4979061" cy="1338709"/>
          </a:xfrm>
          <a:prstGeom prst="rect">
            <a:avLst/>
          </a:prstGeom>
          <a:solidFill>
            <a:srgbClr val="F4EEE6"/>
          </a:solidFill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8A3324"/>
                </a:solidFill>
                <a:latin typeface="Calibri"/>
                <a:cs typeface="Calibri"/>
              </a:rPr>
              <a:t>Supervisor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Sumit Kumar, Assistant Professor (CSE)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8A3324"/>
                </a:solidFill>
                <a:latin typeface="Calibri"/>
                <a:cs typeface="Calibri"/>
              </a:rPr>
              <a:t>Programme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B.Tech. CSE- Specialization in AI &amp; ML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916939" y="4750000"/>
            <a:ext cx="10358122" cy="7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3B2A24"/>
                </a:solidFill>
                <a:latin typeface="Calibri"/>
                <a:cs typeface="Calibri"/>
              </a:rPr>
              <a:t>DEPARTMENT OF COMPUTER SCIENCE AND ENGINEERING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6E6257"/>
                </a:solidFill>
                <a:latin typeface="Calibri"/>
                <a:cs typeface="Calibri"/>
              </a:rPr>
              <a:t>School of Engineering and Technology  |  The NorthCap University, Gurugram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Description of the Broad Topic</a:t>
            </a:r>
            <a:endParaRPr sz="3200"/>
          </a:p>
        </p:txBody>
      </p:sp>
      <p:sp>
        <p:nvSpPr>
          <p:cNvPr id="11" name="tb11"/>
          <p:cNvSpPr txBox="1"/>
          <p:nvPr/>
        </p:nvSpPr>
        <p:spPr>
          <a:xfrm>
            <a:off x="916939" y="1450000"/>
            <a:ext cx="1943624" cy="620000"/>
          </a:xfrm>
          <a:prstGeom prst="roundRect">
            <a:avLst>
              <a:gd name="adj" fmla="val 14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OCR &amp;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Document AI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916939" y="2110000"/>
            <a:ext cx="1943624" cy="6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7"/>
                </a:solidFill>
                <a:latin typeface="Calibri"/>
                <a:cs typeface="Calibri"/>
              </a:rPr>
              <a:t>Reading scanned and image-based pages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3020563" y="1450000"/>
            <a:ext cx="1943624" cy="620000"/>
          </a:xfrm>
          <a:prstGeom prst="roundRect">
            <a:avLst>
              <a:gd name="adj" fmla="val 14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NLP &amp;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Semantic Search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3020563" y="2110000"/>
            <a:ext cx="1943624" cy="6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7"/>
                </a:solidFill>
                <a:latin typeface="Calibri"/>
                <a:cs typeface="Calibri"/>
              </a:rPr>
              <a:t>Meaning-based matching, not keywords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5124187" y="1450000"/>
            <a:ext cx="1943624" cy="620000"/>
          </a:xfrm>
          <a:prstGeom prst="roundRect">
            <a:avLst>
              <a:gd name="adj" fmla="val 14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Vector DB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&amp; RAG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5124187" y="2110000"/>
            <a:ext cx="1943624" cy="6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7"/>
                </a:solidFill>
                <a:latin typeface="Calibri"/>
                <a:cs typeface="Calibri"/>
              </a:rPr>
              <a:t>ChromaDB evidence + grounded generation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7227812" y="1450000"/>
            <a:ext cx="1943624" cy="620000"/>
          </a:xfrm>
          <a:prstGeom prst="roundRect">
            <a:avLst>
              <a:gd name="adj" fmla="val 14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Multimodal AI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(Mini VLM)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7227812" y="2110000"/>
            <a:ext cx="1943624" cy="6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7"/>
                </a:solidFill>
                <a:latin typeface="Calibri"/>
                <a:cs typeface="Calibri"/>
              </a:rPr>
              <a:t>Tables, forms, stamps and layout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9331436" y="1450000"/>
            <a:ext cx="1943624" cy="620000"/>
          </a:xfrm>
          <a:prstGeom prst="roundRect">
            <a:avLst>
              <a:gd name="adj" fmla="val 14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Workflow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Orchestration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9331436" y="2110000"/>
            <a:ext cx="1943624" cy="6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E6257"/>
                </a:solidFill>
                <a:latin typeface="Calibri"/>
                <a:cs typeface="Calibri"/>
              </a:rPr>
              <a:t>LangChain / LangGraph, session state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916939" y="2900000"/>
            <a:ext cx="10358122" cy="2400000"/>
          </a:xfrm>
          <a:prstGeom prst="rect">
            <a:avLst/>
          </a:prstGeom>
          <a:solidFill>
            <a:srgbClr val="F4EEE6"/>
          </a:solidFill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Government departments publish notifications, schemes, circulars, policy documents, forms and guidelines that carry eligibility rules, deadlines and procedures.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These archives mix ordinary text with scanned pages, tables, stamps, figures and multi-column layouts — a large share has no searchable text layer at all.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The project builds a multimodal, multilingual framework that digitizes such documents and answers natural-language questions from them, with source and page traceability.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Phase I (mid-term): multilingual text-only RAG foundation. Phase II (final): OCR, Mini VLM multimodal understanding and within-session conversational querying.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Feasibility Study</a:t>
            </a:r>
            <a:endParaRPr sz="3200"/>
          </a:p>
        </p:txBody>
      </p:sp>
      <p:sp>
        <p:nvSpPr>
          <p:cNvPr id="11" name="tb11"/>
          <p:cNvSpPr txBox="1"/>
          <p:nvPr/>
        </p:nvSpPr>
        <p:spPr>
          <a:xfrm>
            <a:off x="916939" y="1560000"/>
            <a:ext cx="3286040" cy="1980000"/>
          </a:xfrm>
          <a:prstGeom prst="roundRect">
            <a:avLst>
              <a:gd name="adj" fmla="val 6000"/>
            </a:avLst>
          </a:prstGeom>
          <a:solidFill>
            <a:srgbClr val="F4EEE6"/>
          </a:solidFill>
          <a:ln w="12700">
            <a:solidFill>
              <a:srgbClr val="DCCDB9"/>
            </a:solidFill>
          </a:ln>
        </p:spPr>
        <p:txBody>
          <a:bodyPr vert="horz" wrap="square" lIns="91440" tIns="45720" rIns="91440" bIns="4572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A3324"/>
                </a:solidFill>
                <a:latin typeface="Calibri"/>
                <a:cs typeface="Calibri"/>
              </a:rPr>
              <a:t>Technical</a:t>
            </a:r>
          </a:p>
          <a:p>
            <a:pPr marL="0" indent="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Established libraries, vector databases, vision-language models and LLM APIs cover every component. The modular design lets each stage be built and tested independently, and Phase II reuses working Phase-I modules.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4452979" y="1560000"/>
            <a:ext cx="3286040" cy="1980000"/>
          </a:xfrm>
          <a:prstGeom prst="roundRect">
            <a:avLst>
              <a:gd name="adj" fmla="val 6000"/>
            </a:avLst>
          </a:prstGeom>
          <a:solidFill>
            <a:srgbClr val="F4EEE6"/>
          </a:solidFill>
          <a:ln w="12700">
            <a:solidFill>
              <a:srgbClr val="DCCDB9"/>
            </a:solidFill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A3324"/>
                </a:solidFill>
                <a:latin typeface="Calibri"/>
                <a:cs typeface="Calibri"/>
              </a:rPr>
              <a:t>Operational</a:t>
            </a:r>
          </a:p>
          <a:p>
            <a:pPr marL="0" indent="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Staff upload documents through the existing Admin interface without technical knowledge; citizens interact only through natural-language questions.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7989020" y="1560000"/>
            <a:ext cx="3286040" cy="1980000"/>
          </a:xfrm>
          <a:prstGeom prst="roundRect">
            <a:avLst>
              <a:gd name="adj" fmla="val 6000"/>
            </a:avLst>
          </a:prstGeom>
          <a:solidFill>
            <a:srgbClr val="F4EEE6"/>
          </a:solidFill>
          <a:ln w="12700">
            <a:solidFill>
              <a:srgbClr val="DCCDB9"/>
            </a:solidFill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A3324"/>
                </a:solidFill>
                <a:latin typeface="Calibri"/>
                <a:cs typeface="Calibri"/>
              </a:rPr>
              <a:t>Economic</a:t>
            </a:r>
          </a:p>
          <a:p>
            <a:pPr marL="0" indent="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Built mainly on open-source OCR and embedding models. Paid Gemini API usage is kept low through prompt and context-length optimisation.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916939" y="3720000"/>
            <a:ext cx="5054061" cy="1700000"/>
          </a:xfrm>
          <a:prstGeom prst="roundRect">
            <a:avLst>
              <a:gd name="adj" fmla="val 6000"/>
            </a:avLst>
          </a:prstGeom>
          <a:solidFill>
            <a:srgbClr val="F4EEE6"/>
          </a:solidFill>
          <a:ln w="12700">
            <a:solidFill>
              <a:srgbClr val="DCCDB9"/>
            </a:solidFill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A3324"/>
                </a:solidFill>
                <a:latin typeface="Calibri"/>
                <a:cs typeface="Calibri"/>
              </a:rPr>
              <a:t>Time</a:t>
            </a:r>
          </a:p>
          <a:p>
            <a:pPr marL="0" indent="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Incremental two-phase schedule- the RAG foundation is delivered by mid-term, leaving OCR, multimodal processing and evaluation for the final submission.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6221000" y="3720000"/>
            <a:ext cx="5054061" cy="1700000"/>
          </a:xfrm>
          <a:prstGeom prst="roundRect">
            <a:avLst>
              <a:gd name="adj" fmla="val 6000"/>
            </a:avLst>
          </a:prstGeom>
          <a:solidFill>
            <a:srgbClr val="F4EEE6"/>
          </a:solidFill>
          <a:ln w="12700">
            <a:solidFill>
              <a:srgbClr val="DCCDB9"/>
            </a:solidFill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A3324"/>
                </a:solidFill>
                <a:latin typeface="Calibri"/>
                <a:cs typeface="Calibri"/>
              </a:rPr>
              <a:t>Session context</a:t>
            </a:r>
          </a:p>
          <a:p>
            <a:pPr marL="0" indent="0" algn="l">
              <a:lnSpc>
                <a:spcPct val="9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Within-session context needs only session/workflow state, not a second vector database. A separate conversation-history store remains an optional advanced extension.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Existing Solutions / Literature Review</a:t>
            </a:r>
            <a:endParaRPr sz="3200"/>
          </a:p>
        </p:txBody>
      </p:sp>
      <p:graphicFrame>
        <p:nvGraphicFramePr>
          <p:cNvPr id="11" name="tbl11"/>
          <p:cNvGraphicFramePr>
            <a:graphicFrameLocks noGrp="1"/>
          </p:cNvGraphicFramePr>
          <p:nvPr/>
        </p:nvGraphicFramePr>
        <p:xfrm>
          <a:off x="916939" y="1480000"/>
          <a:ext cx="10358122" cy="4030000"/>
        </p:xfrm>
        <a:graphic>
          <a:graphicData uri="http://schemas.openxmlformats.org/drawingml/2006/table">
            <a:tbl>
              <a:tblPr firstRow="1"/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8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Work / Area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Contribution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Relevance to this project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Lewis et al. (2020)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Retrieval-Augmented Generation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Combines retrieval with generation for knowledge-intensive tasks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Core RAG design underlying the whole pipeline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Islam et al. (2017)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OCR survey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Surveys OCR methods, error sources and challenges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Basis for Phase-II scanned-document digitization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Huang et al. (2022)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LayoutLMv3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Joint text, image and layout pre-training for Document AI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Motivates the Mini VLM multimodal extension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Asai et al. (2022)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Evidentiality-guided generation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Ties generated content to its supporting evidence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Grounding and source/page traceability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Chirkova et al. (2024)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Multilingual RAG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Retrieval and generation across languages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Multilingual queries with same-language answers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Rathee et al. (2026)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Test-time corpus feedback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Feedback from the corpus to improve retrieval at inference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Informs future retrieval-quality improvements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b12"/>
          <p:cNvSpPr txBox="1"/>
          <p:nvPr/>
        </p:nvSpPr>
        <p:spPr>
          <a:xfrm>
            <a:off x="916939" y="5620000"/>
            <a:ext cx="10358122" cy="4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6E6257"/>
                </a:solidFill>
                <a:latin typeface="Calibri"/>
                <a:cs typeface="Calibri"/>
              </a:rPr>
              <a:t>Each line of work solves only part of the problem; the project integrates them for government documents.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GAPS in Existing Solutions / Literature Review</a:t>
            </a:r>
            <a:endParaRPr sz="3200" dirty="0"/>
          </a:p>
        </p:txBody>
      </p:sp>
      <p:graphicFrame>
        <p:nvGraphicFramePr>
          <p:cNvPr id="11" name="tbl11"/>
          <p:cNvGraphicFramePr>
            <a:graphicFrameLocks noGrp="1"/>
          </p:cNvGraphicFramePr>
          <p:nvPr/>
        </p:nvGraphicFramePr>
        <p:xfrm>
          <a:off x="916939" y="1420000"/>
          <a:ext cx="10358122" cy="3900000"/>
        </p:xfrm>
        <a:graphic>
          <a:graphicData uri="http://schemas.openxmlformats.org/drawingml/2006/table">
            <a:tbl>
              <a:tblPr firstRow="1"/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8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Existing approach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Project response / phase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Traditional OCR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Recognition errors, and the original page layout is lost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Phase II — OCR with image preprocessing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Keyword search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Misses synonyms and paraphrased citizen queries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Phase I — embeddings + semantic retrieval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Text-only RAG (Phase I)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Assumes machine-readable input; ignores tables, images, stamps and layout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Phase II — Mini VLM multimodal extension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Generic Document AI models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Not tuned to the noise, layout conventions or vocabulary of government paperwork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Phase II — domain-adapted pipeline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Basic RAG pipelines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Can retrieve irrelevant chunks or answer without sufficient grounding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Phase I / refinement — document &amp; page metadata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Single-turn QA only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Follow-up questions need conversational context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Phase II — within-session state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Cross-session memory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2F2A26"/>
                          </a:solidFill>
                          <a:latin typeface="Calibri"/>
                          <a:cs typeface="Calibri"/>
                        </a:rPr>
                        <a:t>Raises privacy, retention and persistence complexity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Explicitly out of scope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b12"/>
          <p:cNvSpPr txBox="1"/>
          <p:nvPr/>
        </p:nvSpPr>
        <p:spPr>
          <a:xfrm>
            <a:off x="916939" y="5450000"/>
            <a:ext cx="10358122" cy="4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6E6257"/>
                </a:solidFill>
                <a:latin typeface="Calibri"/>
                <a:cs typeface="Calibri"/>
              </a:rPr>
              <a:t>Phase-II opportunity: extend the working multilingual RAG pipeline with OCR-based digitization and Mini VLM understanding, keeping the same traceability guarantees.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Problem Statement</a:t>
            </a:r>
            <a:endParaRPr sz="3200"/>
          </a:p>
        </p:txBody>
      </p:sp>
      <p:sp>
        <p:nvSpPr>
          <p:cNvPr id="11" name="tb11"/>
          <p:cNvSpPr txBox="1"/>
          <p:nvPr/>
        </p:nvSpPr>
        <p:spPr>
          <a:xfrm>
            <a:off x="916939" y="1420000"/>
            <a:ext cx="10358122" cy="1750000"/>
          </a:xfrm>
          <a:prstGeom prst="roundRect">
            <a:avLst>
              <a:gd name="adj" fmla="val 4000"/>
            </a:avLst>
          </a:prstGeom>
          <a:solidFill>
            <a:srgbClr val="F4EEE6"/>
          </a:solidFill>
          <a:ln w="12700">
            <a:solidFill>
              <a:srgbClr val="DCCDB9"/>
            </a:solidFill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To develop a multimodal AI framework that digitizes and processes heterogeneous government documents using text extraction and OCR, constructs searchable semantic representations, supports multilingual natural-language queries, uses visual-language understanding for relevant document content, retrieves evidence, generates grounded responses through a structured RAG workflow, provides document/page traceability, and supports within-session conversational querying.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916939" y="3500000"/>
            <a:ext cx="2424530" cy="460000"/>
          </a:xfrm>
          <a:prstGeom prst="roundRect">
            <a:avLst>
              <a:gd name="adj" fmla="val 18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1  Digitize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916939" y="4020000"/>
            <a:ext cx="2424530" cy="1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F2A26"/>
                </a:solidFill>
                <a:latin typeface="Calibri"/>
                <a:cs typeface="Calibri"/>
              </a:rPr>
              <a:t>Text extraction and OCR turn scanned, image-based pages into machine-readable content.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3561469" y="3500000"/>
            <a:ext cx="2424530" cy="460000"/>
          </a:xfrm>
          <a:prstGeom prst="roundRect">
            <a:avLst>
              <a:gd name="adj" fmla="val 18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2  Represent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3561469" y="4020000"/>
            <a:ext cx="2424530" cy="1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F2A26"/>
                </a:solidFill>
                <a:latin typeface="Calibri"/>
                <a:cs typeface="Calibri"/>
              </a:rPr>
              <a:t>Cleaning, language detection, chunking and multilingual embeddings stored in ChromaDB with metadata.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6206000" y="3500000"/>
            <a:ext cx="2424530" cy="460000"/>
          </a:xfrm>
          <a:prstGeom prst="roundRect">
            <a:avLst>
              <a:gd name="adj" fmla="val 18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3  Retrieve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6206000" y="4020000"/>
            <a:ext cx="2424530" cy="1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F2A26"/>
                </a:solidFill>
                <a:latin typeface="Calibri"/>
                <a:cs typeface="Calibri"/>
              </a:rPr>
              <a:t>Semantic Top-K similarity search returns the evidence chunks that match the user's question.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8850530" y="3500000"/>
            <a:ext cx="2424530" cy="460000"/>
          </a:xfrm>
          <a:prstGeom prst="roundRect">
            <a:avLst>
              <a:gd name="adj" fmla="val 18000"/>
            </a:avLst>
          </a:prstGeom>
          <a:solidFill>
            <a:srgbClr val="8A3324"/>
          </a:solidFill>
          <a:ln>
            <a:noFill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4  Generate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8850530" y="4020000"/>
            <a:ext cx="2424530" cy="1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F2A26"/>
                </a:solidFill>
                <a:latin typeface="Calibri"/>
                <a:cs typeface="Calibri"/>
              </a:rPr>
              <a:t>Gemini answers only from retrieved evidence, in the user's language, with document and page cited.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Objectives</a:t>
            </a:r>
            <a:endParaRPr sz="3200"/>
          </a:p>
        </p:txBody>
      </p:sp>
      <p:sp>
        <p:nvSpPr>
          <p:cNvPr id="11" name="tb11"/>
          <p:cNvSpPr txBox="1"/>
          <p:nvPr/>
        </p:nvSpPr>
        <p:spPr>
          <a:xfrm>
            <a:off x="916939" y="152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1446939" y="150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Study government-document retrieval, OCR, RAG and multimodal approaches, and identify the technical and research gaps.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6296000" y="152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6826000" y="150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Design an architecture combining digitization, semantic retrieval and grounded generation.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916939" y="256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1446939" y="254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Develop an OCR-based pipeline converting scanned and image-based government documents into machine-readable text.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6296000" y="256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6826000" y="254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Investigate Mini VLM visual-language understanding for tables, figures and layout-dependent content.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916939" y="360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1446939" y="358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Extend the multilingual embedding and ChromaDB retrieval pipeline to incorporate multimodal representations.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6296000" y="360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6826000" y="358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Build a RAG question-answering system orchestrated through LangChain / LangGraph.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916939" y="464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1446939" y="462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Support within-session conversational follow-up; keep cross-session memory explicitly out of scope.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6296000" y="4640000"/>
            <a:ext cx="430000" cy="430000"/>
          </a:xfrm>
          <a:prstGeom prst="ellipse">
            <a:avLst/>
          </a:prstGeom>
          <a:solidFill>
            <a:srgbClr val="8A3324"/>
          </a:solidFill>
          <a:ln>
            <a:noFill/>
          </a:ln>
        </p:spPr>
        <p:txBody>
          <a:bodyPr vert="horz" wrap="square" lIns="0" tIns="45720" rIns="0" bIns="4572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6826000" y="4620000"/>
            <a:ext cx="4449061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F2A26"/>
                </a:solidFill>
                <a:latin typeface="Calibri"/>
                <a:cs typeface="Calibri"/>
              </a:rPr>
              <a:t>Evaluate OCR accuracy, retrieval quality and answer correctness against the Phase-I text-only baseline.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GANTT Chart — Phase I (Mid-Term)</a:t>
            </a:r>
            <a:endParaRPr sz="3200"/>
          </a:p>
        </p:txBody>
      </p:sp>
      <p:graphicFrame>
        <p:nvGraphicFramePr>
          <p:cNvPr id="11" name="tbl11"/>
          <p:cNvGraphicFramePr>
            <a:graphicFrameLocks noGrp="1"/>
          </p:cNvGraphicFramePr>
          <p:nvPr/>
        </p:nvGraphicFramePr>
        <p:xfrm>
          <a:off x="916939" y="1400000"/>
          <a:ext cx="10358122" cy="4210000"/>
        </p:xfrm>
        <a:graphic>
          <a:graphicData uri="http://schemas.openxmlformats.org/drawingml/2006/table">
            <a:tbl>
              <a:tblPr firstRow="1"/>
              <a:tblGrid>
                <a:gridCol w="3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981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W1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3–9 Aug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W2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10–16 Aug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W3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17–23 Aug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W4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24–30 Aug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W5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31 Aug–6 Sep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W6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7–13 Sep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W7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8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14–20 Sep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Problem &amp; requirement analysis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Problem statement &amp; objectives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Literature survey &amp; existing systems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Research gap identification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Proposed solution &amp; scope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System architecture &amp; pipeline design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Technology selection &amp; feasibility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Git/GitHub setup &amp; document ingestion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Cleaning, chunking, embeddings, ChromaDB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Retrieval, RAG pipeline &amp; Flask GUI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Testing &amp; debugging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1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Ongoing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0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Mid-term report &amp; presentation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C463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000" b="1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Ongoing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" name="tb12"/>
          <p:cNvSpPr txBox="1"/>
          <p:nvPr/>
        </p:nvSpPr>
        <p:spPr>
          <a:xfrm>
            <a:off x="916939" y="5770000"/>
            <a:ext cx="10358122" cy="3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6E6257"/>
                </a:solidFill>
                <a:latin typeface="Calibri"/>
                <a:cs typeface="Calibri"/>
              </a:rPr>
              <a:t>Phase I schedule: 3 August 2026 – 20 September 2026. OCR, Mini VLM, LangChain/LangGraph and evaluation are Phase-II activities.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Responsibility Chart</a:t>
            </a:r>
            <a:endParaRPr sz="3200"/>
          </a:p>
        </p:txBody>
      </p:sp>
      <p:graphicFrame>
        <p:nvGraphicFramePr>
          <p:cNvPr id="11" name="tbl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654324"/>
              </p:ext>
            </p:extLst>
          </p:nvPr>
        </p:nvGraphicFramePr>
        <p:xfrm>
          <a:off x="1883606" y="1339000"/>
          <a:ext cx="8424788" cy="4180000"/>
        </p:xfrm>
        <a:graphic>
          <a:graphicData uri="http://schemas.openxmlformats.org/drawingml/2006/table">
            <a:tbl>
              <a:tblPr firstRow="1"/>
              <a:tblGrid>
                <a:gridCol w="4558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3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3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 / Work package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[Vaibhav Chugh]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[Srivatsan Raghavan]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8A3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Problem analysis &amp; literature survey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+mn-lt"/>
                          <a:cs typeface="Calibri"/>
                        </a:rPr>
                        <a:t>Support</a:t>
                      </a:r>
                      <a:endParaRPr lang="en-US" sz="1100" b="1" i="0" dirty="0">
                        <a:solidFill>
                          <a:srgbClr val="8A3324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+mn-lt"/>
                          <a:cs typeface="Calibri"/>
                        </a:rPr>
                        <a:t>Lead</a:t>
                      </a:r>
                      <a:endParaRPr lang="en-US" sz="1100" b="0" i="0" dirty="0">
                        <a:solidFill>
                          <a:srgbClr val="6E6257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Architecture &amp; pipeline design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Lead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Support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Document ingestion &amp; preprocessing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Support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Lead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Chunking, embeddings &amp; ChromaDB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+mn-lt"/>
                          <a:cs typeface="Calibri"/>
                        </a:rPr>
                        <a:t>Lead</a:t>
                      </a:r>
                      <a:endParaRPr lang="en-US" sz="1100" b="1" i="0" dirty="0">
                        <a:solidFill>
                          <a:srgbClr val="6E6257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+mn-lt"/>
                          <a:cs typeface="Calibri"/>
                        </a:rPr>
                        <a:t>Support</a:t>
                      </a:r>
                      <a:endParaRPr lang="en-US" sz="1100" b="0" i="0" dirty="0">
                        <a:solidFill>
                          <a:srgbClr val="8A3324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Retrieval &amp; RAG generation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+mn-lt"/>
                          <a:cs typeface="Calibri"/>
                        </a:rPr>
                        <a:t>Lead</a:t>
                      </a:r>
                      <a:endParaRPr lang="en-US" sz="1100" b="1" i="0" dirty="0">
                        <a:solidFill>
                          <a:srgbClr val="6E6257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Support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Flask admin / user interface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+mn-lt"/>
                          <a:cs typeface="Calibri"/>
                        </a:rPr>
                        <a:t>Lead</a:t>
                      </a:r>
                      <a:endParaRPr lang="en-US" sz="1100" b="1" i="0" dirty="0">
                        <a:solidFill>
                          <a:srgbClr val="6E6257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Support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OCR &amp; Mini VLM integration (Phase II)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Lead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Support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LangChain / LangGraph orchestration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Support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Calibri"/>
                          <a:cs typeface="Calibri"/>
                        </a:rPr>
                        <a:t>Lead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Testing &amp; evaluation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Calibri"/>
                          <a:cs typeface="Calibri"/>
                        </a:rPr>
                        <a:t>Support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+mn-lt"/>
                          <a:cs typeface="Calibri"/>
                        </a:rPr>
                        <a:t>Lead</a:t>
                      </a:r>
                      <a:endParaRPr lang="en-US" sz="1100" b="0" i="0" dirty="0">
                        <a:solidFill>
                          <a:srgbClr val="6E6257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3B2A24"/>
                          </a:solidFill>
                          <a:latin typeface="Calibri"/>
                          <a:cs typeface="Calibri"/>
                        </a:rPr>
                        <a:t>Report, documentation &amp; presentation</a:t>
                      </a: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6E6257"/>
                          </a:solidFill>
                          <a:latin typeface="+mn-lt"/>
                          <a:cs typeface="Calibri"/>
                        </a:rPr>
                        <a:t>Support</a:t>
                      </a:r>
                      <a:endParaRPr lang="en-US" sz="1100" b="1" i="0" dirty="0">
                        <a:solidFill>
                          <a:srgbClr val="8A3324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8A3324"/>
                          </a:solidFill>
                          <a:latin typeface="+mn-lt"/>
                          <a:cs typeface="Calibri"/>
                        </a:rPr>
                        <a:t>Lead</a:t>
                      </a:r>
                      <a:endParaRPr lang="en-US" sz="1100" b="0" i="0" dirty="0">
                        <a:solidFill>
                          <a:srgbClr val="6E6257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27432" marB="27432" anchor="ctr">
                    <a:lnL w="6350">
                      <a:solidFill>
                        <a:srgbClr val="D6C9B6"/>
                      </a:solidFill>
                    </a:lnL>
                    <a:lnR w="6350">
                      <a:solidFill>
                        <a:srgbClr val="D6C9B6"/>
                      </a:solidFill>
                    </a:lnR>
                    <a:lnT w="6350">
                      <a:solidFill>
                        <a:srgbClr val="D6C9B6"/>
                      </a:solidFill>
                    </a:lnT>
                    <a:lnB w="6350">
                      <a:solidFill>
                        <a:srgbClr val="D6C9B6"/>
                      </a:solidFill>
                    </a:lnB>
                    <a:solidFill>
                      <a:srgbClr val="F4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tb12"/>
          <p:cNvSpPr txBox="1"/>
          <p:nvPr/>
        </p:nvSpPr>
        <p:spPr>
          <a:xfrm>
            <a:off x="916939" y="5900000"/>
            <a:ext cx="10358122" cy="3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6E6257"/>
                </a:solidFill>
                <a:latin typeface="Calibri"/>
                <a:cs typeface="Calibri"/>
              </a:rPr>
              <a:t>Lead = primary owner and deliverable holder;  Support = contributes and reviews.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Annexure I</a:t>
            </a:r>
            <a:endParaRPr sz="3200"/>
          </a:p>
        </p:txBody>
      </p:sp>
      <p:sp>
        <p:nvSpPr>
          <p:cNvPr id="11" name="tb11"/>
          <p:cNvSpPr txBox="1"/>
          <p:nvPr/>
        </p:nvSpPr>
        <p:spPr>
          <a:xfrm>
            <a:off x="916939" y="1500000"/>
            <a:ext cx="10358122" cy="5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Front page of plagiarism report provided by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916939" y="500000"/>
            <a:ext cx="10358122" cy="620000"/>
          </a:xfrm>
          <a:prstGeom prst="rect">
            <a:avLst/>
          </a:prstGeom>
        </p:spPr>
        <p:txBody>
          <a:bodyPr vert="horz" wrap="square" lIns="0" tIns="1333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i="0" dirty="0">
                <a:solidFill>
                  <a:srgbClr val="3B2A24"/>
                </a:solidFill>
                <a:latin typeface="Calibri"/>
                <a:cs typeface="Calibri"/>
              </a:rPr>
              <a:t>Annexure II</a:t>
            </a:r>
            <a:endParaRPr sz="3200"/>
          </a:p>
        </p:txBody>
      </p:sp>
      <p:sp>
        <p:nvSpPr>
          <p:cNvPr id="11" name="tb11"/>
          <p:cNvSpPr txBox="1"/>
          <p:nvPr/>
        </p:nvSpPr>
        <p:spPr>
          <a:xfrm>
            <a:off x="916939" y="1500000"/>
            <a:ext cx="10358122" cy="5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F2A26"/>
                </a:solidFill>
                <a:latin typeface="Calibri"/>
                <a:cs typeface="Calibri"/>
              </a:rPr>
              <a:t>Screenshot of mentor’s mail / comments by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1185</Words>
  <Application>Microsoft Office PowerPoint</Application>
  <PresentationFormat>Widescreen</PresentationFormat>
  <Paragraphs>205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Final Year Project (Midterm) July2026-December2026</vt:lpstr>
      <vt:lpstr>Multimodal AI Framework for OCR-Based Digitization and Intelligent Retrieval of Government Documents</vt:lpstr>
      <vt:lpstr>Description of the Broad Topic</vt:lpstr>
      <vt:lpstr>Feasibility Study</vt:lpstr>
      <vt:lpstr>Existing Solutions / Literature Review</vt:lpstr>
      <vt:lpstr>GAPS in Existing Solutions / Literature Review</vt:lpstr>
      <vt:lpstr>Problem Statement</vt:lpstr>
      <vt:lpstr>Objectives</vt:lpstr>
      <vt:lpstr>GANTT Chart — Phase I (Mid-Term)</vt:lpstr>
      <vt:lpstr>Responsibility Chart</vt:lpstr>
      <vt:lpstr>Annexure I</vt:lpstr>
      <vt:lpstr>Annexure 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Pankaj Srivastava</dc:creator>
  <cp:lastModifiedBy>Vaibhav Chugh</cp:lastModifiedBy>
  <cp:revision>4</cp:revision>
  <dcterms:created xsi:type="dcterms:W3CDTF">2024-09-13T05:13:03Z</dcterms:created>
  <dcterms:modified xsi:type="dcterms:W3CDTF">2026-09-17T22:11:59Z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2024-09-13T00:00:00Z</vt:filetime>
  </property>
  <property fmtid="{D5CDD505-2E9C-101B-9397-08002B2CF9AE}" pid="5" name="Producer">
    <vt:lpwstr>Microsoft® PowerPoint® for Microsoft 365</vt:lpwstr>
  </property>
</Properties>
</file>